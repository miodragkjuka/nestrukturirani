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7" r:id="rId14"/>
    <p:sldId id="268" r:id="rId15"/>
    <p:sldId id="269" r:id="rId16"/>
    <p:sldId id="272" r:id="rId17"/>
    <p:sldId id="273" r:id="rId18"/>
    <p:sldId id="270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96" y="6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0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7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1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85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22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09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94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5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38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42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7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31104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51782"/>
            <a:ext cx="7315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rPr dirty="0" err="1"/>
              <a:t>Споредбена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Column-family </a:t>
            </a:r>
            <a:r>
              <a:rPr dirty="0" err="1"/>
              <a:t>бази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податоци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49745" y="3429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86AB"/>
                </a:solidFill>
              </a:defRPr>
            </a:pPr>
            <a:r>
              <a:rPr dirty="0"/>
              <a:t>Cassandra vs Hadoop/Spark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3726" y="5486400"/>
            <a:ext cx="635654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rPr dirty="0"/>
              <a:t>Универзитет </a:t>
            </a:r>
            <a:r>
              <a:rPr dirty="0" err="1"/>
              <a:t>Св</a:t>
            </a:r>
            <a:r>
              <a:rPr dirty="0"/>
              <a:t>. </a:t>
            </a:r>
            <a:r>
              <a:rPr dirty="0" err="1"/>
              <a:t>Кирил</a:t>
            </a:r>
            <a:r>
              <a:rPr dirty="0"/>
              <a:t> и </a:t>
            </a:r>
            <a:r>
              <a:rPr dirty="0" err="1"/>
              <a:t>Методиј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Скопје</a:t>
            </a:r>
            <a:endParaRPr dirty="0"/>
          </a:p>
          <a:p>
            <a:r>
              <a:rPr dirty="0" err="1"/>
              <a:t>Факултет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информатички</a:t>
            </a:r>
            <a:r>
              <a:rPr dirty="0"/>
              <a:t> </a:t>
            </a:r>
            <a:r>
              <a:rPr dirty="0" err="1"/>
              <a:t>науки</a:t>
            </a:r>
            <a:r>
              <a:rPr dirty="0"/>
              <a:t> и </a:t>
            </a:r>
            <a:r>
              <a:rPr dirty="0" err="1"/>
              <a:t>компјутерско</a:t>
            </a:r>
            <a:r>
              <a:rPr dirty="0"/>
              <a:t> </a:t>
            </a:r>
            <a:r>
              <a:rPr dirty="0" err="1"/>
              <a:t>инженерство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185097-FBD2-C191-A49C-4DBCAF471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437" y="1253837"/>
            <a:ext cx="5385816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Вовед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Традиционалните</a:t>
            </a:r>
            <a:r>
              <a:rPr dirty="0"/>
              <a:t> </a:t>
            </a:r>
            <a:r>
              <a:rPr dirty="0" err="1"/>
              <a:t>релациони</a:t>
            </a:r>
            <a:r>
              <a:rPr dirty="0"/>
              <a:t> </a:t>
            </a:r>
            <a:r>
              <a:rPr dirty="0" err="1"/>
              <a:t>бази</a:t>
            </a:r>
            <a:r>
              <a:rPr dirty="0"/>
              <a:t> </a:t>
            </a:r>
            <a:r>
              <a:rPr dirty="0" err="1"/>
              <a:t>покажуваат</a:t>
            </a:r>
            <a:r>
              <a:rPr dirty="0"/>
              <a:t> </a:t>
            </a:r>
            <a:r>
              <a:rPr dirty="0" err="1"/>
              <a:t>ограничувања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големи</a:t>
            </a:r>
            <a:r>
              <a:rPr dirty="0"/>
              <a:t> </a:t>
            </a:r>
            <a:r>
              <a:rPr dirty="0" err="1"/>
              <a:t>количини</a:t>
            </a:r>
            <a:r>
              <a:rPr dirty="0"/>
              <a:t> </a:t>
            </a:r>
            <a:r>
              <a:rPr dirty="0" err="1"/>
              <a:t>податоци</a:t>
            </a:r>
            <a:endParaRPr dirty="0"/>
          </a:p>
          <a:p>
            <a:pPr marL="0" indent="0">
              <a:buNone/>
            </a:pPr>
            <a:r>
              <a:rPr dirty="0"/>
              <a:t>• NoSQL </a:t>
            </a:r>
            <a:r>
              <a:rPr dirty="0" err="1"/>
              <a:t>базите</a:t>
            </a:r>
            <a:r>
              <a:rPr dirty="0"/>
              <a:t> </a:t>
            </a:r>
            <a:r>
              <a:rPr dirty="0" err="1"/>
              <a:t>нудат</a:t>
            </a:r>
            <a:r>
              <a:rPr dirty="0"/>
              <a:t> </a:t>
            </a:r>
            <a:r>
              <a:rPr dirty="0" err="1"/>
              <a:t>различни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складирање</a:t>
            </a:r>
            <a:r>
              <a:rPr dirty="0"/>
              <a:t> и </a:t>
            </a:r>
            <a:r>
              <a:rPr dirty="0" err="1"/>
              <a:t>пристап</a:t>
            </a:r>
            <a:endParaRPr dirty="0"/>
          </a:p>
          <a:p>
            <a:pPr marL="0" indent="0">
              <a:buNone/>
            </a:pPr>
            <a:r>
              <a:rPr dirty="0"/>
              <a:t>• Column-family </a:t>
            </a:r>
            <a:r>
              <a:rPr dirty="0" err="1"/>
              <a:t>базите</a:t>
            </a:r>
            <a:r>
              <a:rPr dirty="0"/>
              <a:t> </a:t>
            </a:r>
            <a:r>
              <a:rPr dirty="0" err="1"/>
              <a:t>се</a:t>
            </a:r>
            <a:r>
              <a:rPr dirty="0"/>
              <a:t> </a:t>
            </a:r>
            <a:r>
              <a:rPr dirty="0" err="1"/>
              <a:t>карактеризираат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:</a:t>
            </a:r>
          </a:p>
          <a:p>
            <a:pPr marL="457200" lvl="1" indent="0">
              <a:buNone/>
            </a:pPr>
            <a:r>
              <a:rPr dirty="0"/>
              <a:t>  - </a:t>
            </a:r>
            <a:r>
              <a:rPr dirty="0" err="1"/>
              <a:t>Хоризонтално</a:t>
            </a:r>
            <a:r>
              <a:rPr dirty="0"/>
              <a:t> </a:t>
            </a:r>
            <a:r>
              <a:rPr dirty="0" err="1"/>
              <a:t>скалирање</a:t>
            </a:r>
            <a:endParaRPr dirty="0"/>
          </a:p>
          <a:p>
            <a:pPr marL="457200" lvl="1" indent="0">
              <a:buNone/>
            </a:pPr>
            <a:r>
              <a:rPr dirty="0"/>
              <a:t>  - </a:t>
            </a:r>
            <a:r>
              <a:rPr dirty="0" err="1"/>
              <a:t>Високи</a:t>
            </a:r>
            <a:r>
              <a:rPr dirty="0"/>
              <a:t> </a:t>
            </a:r>
            <a:r>
              <a:rPr dirty="0" err="1"/>
              <a:t>перформанси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читање</a:t>
            </a:r>
            <a:r>
              <a:rPr dirty="0"/>
              <a:t>/</a:t>
            </a:r>
            <a:r>
              <a:rPr dirty="0" err="1"/>
              <a:t>запишување</a:t>
            </a:r>
            <a:endParaRPr dirty="0"/>
          </a:p>
          <a:p>
            <a:pPr marL="457200" lvl="1" indent="0">
              <a:buNone/>
            </a:pPr>
            <a:r>
              <a:rPr dirty="0"/>
              <a:t>  - </a:t>
            </a:r>
            <a:r>
              <a:rPr dirty="0" err="1"/>
              <a:t>Способност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голем</a:t>
            </a:r>
            <a:r>
              <a:rPr lang="mk-MK" dirty="0"/>
              <a:t> обем на  	податоци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Цели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проектот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dirty="0" err="1"/>
              <a:t>Споредбена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помеѓу</a:t>
            </a:r>
            <a:r>
              <a:rPr dirty="0"/>
              <a:t> Apache Cassandra и Apache Hadoop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начинот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импортирање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податоци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Тестирање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различни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агрегација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Споредба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перформансите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различни</a:t>
            </a:r>
            <a:r>
              <a:rPr dirty="0"/>
              <a:t> </a:t>
            </a:r>
            <a:r>
              <a:rPr dirty="0" err="1"/>
              <a:t>типови</a:t>
            </a:r>
            <a:r>
              <a:rPr dirty="0"/>
              <a:t> </a:t>
            </a:r>
            <a:r>
              <a:rPr dirty="0" err="1"/>
              <a:t>прашалници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Добивање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препораки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користење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двете</a:t>
            </a:r>
            <a:r>
              <a:rPr dirty="0"/>
              <a:t> </a:t>
            </a:r>
            <a:r>
              <a:rPr dirty="0" err="1"/>
              <a:t>бази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Податочно множество - TMDB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tmdb_5000_movies.csv:</a:t>
            </a:r>
          </a:p>
          <a:p>
            <a:pPr lvl="1"/>
            <a:r>
              <a:rPr dirty="0"/>
              <a:t>  • 5000 </a:t>
            </a:r>
            <a:r>
              <a:rPr dirty="0" err="1"/>
              <a:t>филмови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детали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буџет</a:t>
            </a:r>
            <a:r>
              <a:rPr dirty="0"/>
              <a:t>, </a:t>
            </a:r>
            <a:r>
              <a:rPr dirty="0" err="1"/>
              <a:t>приход</a:t>
            </a:r>
            <a:r>
              <a:rPr dirty="0"/>
              <a:t>, </a:t>
            </a:r>
            <a:r>
              <a:rPr dirty="0" err="1"/>
              <a:t>жанрови</a:t>
            </a:r>
            <a:r>
              <a:rPr dirty="0"/>
              <a:t>, </a:t>
            </a:r>
            <a:r>
              <a:rPr dirty="0" err="1"/>
              <a:t>оценки</a:t>
            </a:r>
            <a:endParaRPr dirty="0"/>
          </a:p>
          <a:p>
            <a:r>
              <a:rPr dirty="0"/>
              <a:t>tmdb_5000_credits.csv:</a:t>
            </a:r>
          </a:p>
          <a:p>
            <a:pPr lvl="1"/>
            <a:r>
              <a:rPr dirty="0"/>
              <a:t>  • </a:t>
            </a:r>
            <a:r>
              <a:rPr dirty="0" err="1"/>
              <a:t>Информации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глумци</a:t>
            </a:r>
            <a:r>
              <a:rPr dirty="0"/>
              <a:t> и </a:t>
            </a:r>
            <a:r>
              <a:rPr dirty="0" err="1"/>
              <a:t>екипа</a:t>
            </a:r>
            <a:endParaRPr dirty="0"/>
          </a:p>
          <a:p>
            <a:r>
              <a:rPr dirty="0" err="1"/>
              <a:t>Статистика</a:t>
            </a:r>
            <a:r>
              <a:rPr dirty="0"/>
              <a:t>:</a:t>
            </a:r>
          </a:p>
          <a:p>
            <a:pPr marL="457200" lvl="1" indent="0">
              <a:buNone/>
            </a:pPr>
            <a:r>
              <a:rPr dirty="0"/>
              <a:t>  • </a:t>
            </a:r>
            <a:r>
              <a:rPr dirty="0" err="1"/>
              <a:t>Просечен</a:t>
            </a:r>
            <a:r>
              <a:rPr dirty="0"/>
              <a:t> </a:t>
            </a:r>
            <a:r>
              <a:rPr dirty="0" err="1"/>
              <a:t>буџет</a:t>
            </a:r>
            <a:r>
              <a:rPr dirty="0"/>
              <a:t>: 29.4M </a:t>
            </a:r>
            <a:r>
              <a:rPr dirty="0" err="1"/>
              <a:t>долари</a:t>
            </a:r>
            <a:endParaRPr dirty="0"/>
          </a:p>
          <a:p>
            <a:pPr marL="457200" lvl="1" indent="0">
              <a:buNone/>
            </a:pPr>
            <a:r>
              <a:rPr dirty="0"/>
              <a:t> </a:t>
            </a:r>
            <a:r>
              <a:rPr lang="mk-MK" dirty="0"/>
              <a:t> </a:t>
            </a:r>
            <a:r>
              <a:rPr dirty="0"/>
              <a:t>• </a:t>
            </a:r>
            <a:r>
              <a:rPr dirty="0" err="1"/>
              <a:t>Просечен</a:t>
            </a:r>
            <a:r>
              <a:rPr dirty="0"/>
              <a:t> </a:t>
            </a:r>
            <a:r>
              <a:rPr dirty="0" err="1"/>
              <a:t>приход</a:t>
            </a:r>
            <a:r>
              <a:rPr dirty="0"/>
              <a:t>: 82.1M </a:t>
            </a:r>
            <a:r>
              <a:rPr dirty="0" err="1"/>
              <a:t>долари</a:t>
            </a:r>
            <a:endParaRPr dirty="0"/>
          </a:p>
          <a:p>
            <a:pPr marL="457200" lvl="1" indent="0">
              <a:buNone/>
            </a:pPr>
            <a:r>
              <a:rPr lang="mk-MK" dirty="0"/>
              <a:t>  </a:t>
            </a:r>
            <a:r>
              <a:rPr dirty="0"/>
              <a:t>• </a:t>
            </a:r>
            <a:r>
              <a:rPr dirty="0" err="1"/>
              <a:t>Период</a:t>
            </a:r>
            <a:r>
              <a:rPr dirty="0"/>
              <a:t>: 1916-2017 </a:t>
            </a:r>
            <a:r>
              <a:rPr dirty="0" err="1"/>
              <a:t>година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Cassandra - Модел на податоци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Keyspace</a:t>
            </a:r>
            <a:r>
              <a:rPr dirty="0"/>
              <a:t>: </a:t>
            </a:r>
            <a:r>
              <a:rPr dirty="0" err="1"/>
              <a:t>movies_db</a:t>
            </a:r>
            <a:endParaRPr dirty="0"/>
          </a:p>
          <a:p>
            <a:r>
              <a:rPr dirty="0" err="1"/>
              <a:t>Табели</a:t>
            </a:r>
            <a:r>
              <a:rPr dirty="0"/>
              <a:t>:</a:t>
            </a:r>
          </a:p>
          <a:p>
            <a:pPr marL="457200" lvl="1" indent="0">
              <a:buNone/>
            </a:pPr>
            <a:r>
              <a:rPr dirty="0"/>
              <a:t> </a:t>
            </a:r>
            <a:r>
              <a:rPr lang="mk-MK" dirty="0"/>
              <a:t> </a:t>
            </a:r>
            <a:r>
              <a:rPr dirty="0"/>
              <a:t>• movies - </a:t>
            </a:r>
            <a:r>
              <a:rPr dirty="0" err="1"/>
              <a:t>основна</a:t>
            </a:r>
            <a:r>
              <a:rPr dirty="0"/>
              <a:t> </a:t>
            </a:r>
            <a:r>
              <a:rPr dirty="0" err="1"/>
              <a:t>табела</a:t>
            </a:r>
            <a:r>
              <a:rPr dirty="0"/>
              <a:t> (id </a:t>
            </a:r>
            <a:r>
              <a:rPr dirty="0" err="1"/>
              <a:t>како</a:t>
            </a:r>
            <a:r>
              <a:rPr dirty="0"/>
              <a:t> PK)</a:t>
            </a:r>
          </a:p>
          <a:p>
            <a:pPr marL="457200" lvl="1" indent="0">
              <a:buNone/>
            </a:pPr>
            <a:r>
              <a:rPr dirty="0"/>
              <a:t>  • </a:t>
            </a:r>
            <a:r>
              <a:rPr dirty="0" err="1"/>
              <a:t>movies_by_genre</a:t>
            </a:r>
            <a:r>
              <a:rPr dirty="0"/>
              <a:t> - </a:t>
            </a:r>
            <a:r>
              <a:rPr dirty="0" err="1"/>
              <a:t>денормализирана</a:t>
            </a:r>
            <a:r>
              <a:rPr dirty="0"/>
              <a:t> (genre, </a:t>
            </a:r>
            <a:r>
              <a:rPr dirty="0" err="1"/>
              <a:t>release_year</a:t>
            </a:r>
            <a:r>
              <a:rPr dirty="0"/>
              <a:t>, id)</a:t>
            </a:r>
          </a:p>
          <a:p>
            <a:pPr marL="457200" lvl="1" indent="0">
              <a:buNone/>
            </a:pPr>
            <a:r>
              <a:rPr dirty="0"/>
              <a:t>  • </a:t>
            </a:r>
            <a:r>
              <a:rPr dirty="0" err="1"/>
              <a:t>movies_by_year</a:t>
            </a:r>
            <a:r>
              <a:rPr dirty="0"/>
              <a:t> - </a:t>
            </a:r>
            <a:r>
              <a:rPr dirty="0" err="1"/>
              <a:t>кластерирана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revenue</a:t>
            </a:r>
          </a:p>
          <a:p>
            <a:pPr marL="457200" lvl="1" indent="0">
              <a:buNone/>
            </a:pPr>
            <a:r>
              <a:rPr dirty="0"/>
              <a:t>  • credits - </a:t>
            </a:r>
            <a:r>
              <a:rPr dirty="0" err="1"/>
              <a:t>информации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глумци</a:t>
            </a:r>
            <a:endParaRPr dirty="0"/>
          </a:p>
          <a:p>
            <a:r>
              <a:rPr dirty="0" err="1"/>
              <a:t>Карактеристики</a:t>
            </a:r>
            <a:r>
              <a:rPr dirty="0"/>
              <a:t>:</a:t>
            </a:r>
          </a:p>
          <a:p>
            <a:pPr marL="457200" lvl="1" indent="0">
              <a:buNone/>
            </a:pPr>
            <a:r>
              <a:rPr dirty="0"/>
              <a:t> </a:t>
            </a:r>
            <a:r>
              <a:rPr lang="mk-MK" dirty="0"/>
              <a:t> </a:t>
            </a:r>
            <a:r>
              <a:rPr dirty="0"/>
              <a:t>• </a:t>
            </a:r>
            <a:r>
              <a:rPr dirty="0" err="1"/>
              <a:t>Денормализација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оптимизација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прашалници</a:t>
            </a:r>
            <a:endParaRPr dirty="0"/>
          </a:p>
          <a:p>
            <a:pPr marL="457200" lvl="1" indent="0">
              <a:buNone/>
            </a:pPr>
            <a:r>
              <a:rPr lang="mk-MK" dirty="0"/>
              <a:t>  </a:t>
            </a:r>
            <a:r>
              <a:rPr dirty="0"/>
              <a:t>• </a:t>
            </a:r>
            <a:r>
              <a:rPr dirty="0" err="1"/>
              <a:t>Табелите</a:t>
            </a:r>
            <a:r>
              <a:rPr dirty="0"/>
              <a:t> </a:t>
            </a:r>
            <a:r>
              <a:rPr dirty="0" err="1"/>
              <a:t>се</a:t>
            </a:r>
            <a:r>
              <a:rPr dirty="0"/>
              <a:t> </a:t>
            </a:r>
            <a:r>
              <a:rPr dirty="0" err="1"/>
              <a:t>оптимизирани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специфични</a:t>
            </a:r>
            <a:r>
              <a:rPr dirty="0"/>
              <a:t> </a:t>
            </a:r>
            <a:r>
              <a:rPr dirty="0" err="1"/>
              <a:t>пристапни</a:t>
            </a:r>
            <a:r>
              <a:rPr dirty="0"/>
              <a:t> </a:t>
            </a:r>
            <a:r>
              <a:rPr dirty="0" err="1"/>
              <a:t>модели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Hadoop/Spark - Модел на податоци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Формат</a:t>
            </a:r>
            <a:r>
              <a:rPr dirty="0"/>
              <a:t>: Parquet (</a:t>
            </a:r>
            <a:r>
              <a:rPr dirty="0" err="1"/>
              <a:t>колонарен</a:t>
            </a:r>
            <a:r>
              <a:rPr dirty="0"/>
              <a:t>, </a:t>
            </a:r>
            <a:r>
              <a:rPr dirty="0" err="1"/>
              <a:t>компресиран</a:t>
            </a:r>
            <a:r>
              <a:rPr dirty="0"/>
              <a:t>)</a:t>
            </a:r>
          </a:p>
          <a:p>
            <a:r>
              <a:rPr dirty="0" err="1"/>
              <a:t>Табели</a:t>
            </a:r>
            <a:r>
              <a:rPr dirty="0"/>
              <a:t>: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movies_hive</a:t>
            </a:r>
            <a:r>
              <a:rPr dirty="0"/>
              <a:t> - Hive </a:t>
            </a:r>
            <a:r>
              <a:rPr dirty="0" err="1"/>
              <a:t>табела</a:t>
            </a:r>
            <a:r>
              <a:rPr dirty="0"/>
              <a:t> </a:t>
            </a:r>
            <a:r>
              <a:rPr dirty="0" err="1"/>
              <a:t>од</a:t>
            </a:r>
            <a:r>
              <a:rPr dirty="0"/>
              <a:t> Parquet </a:t>
            </a:r>
            <a:r>
              <a:rPr dirty="0" err="1"/>
              <a:t>фајлови</a:t>
            </a:r>
            <a:endParaRPr dirty="0"/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credits_hive</a:t>
            </a:r>
            <a:r>
              <a:rPr dirty="0"/>
              <a:t> - Hive </a:t>
            </a:r>
            <a:r>
              <a:rPr dirty="0" err="1"/>
              <a:t>табела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глумци</a:t>
            </a:r>
            <a:endParaRPr dirty="0"/>
          </a:p>
          <a:p>
            <a:r>
              <a:rPr dirty="0" err="1"/>
              <a:t>Карактеристики</a:t>
            </a:r>
            <a:r>
              <a:rPr dirty="0"/>
              <a:t>: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бара</a:t>
            </a:r>
            <a:r>
              <a:rPr dirty="0"/>
              <a:t> </a:t>
            </a:r>
            <a:r>
              <a:rPr dirty="0" err="1"/>
              <a:t>денормализација</a:t>
            </a:r>
            <a:endParaRPr dirty="0"/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Флексибилни</a:t>
            </a:r>
            <a:r>
              <a:rPr dirty="0"/>
              <a:t> SQL </a:t>
            </a:r>
            <a:r>
              <a:rPr dirty="0" err="1"/>
              <a:t>прашалници</a:t>
            </a:r>
            <a:endParaRPr dirty="0"/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Партиционирање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release_year</a:t>
            </a:r>
            <a:endParaRPr dirty="0"/>
          </a:p>
          <a:p>
            <a:pPr marL="457200" lvl="1" indent="0">
              <a:buNone/>
            </a:pPr>
            <a:r>
              <a:rPr dirty="0"/>
              <a:t>• Spark SQL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обработка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Типови на прашалници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/>
              <a:t>Едноставни</a:t>
            </a:r>
            <a:r>
              <a:rPr dirty="0"/>
              <a:t> </a:t>
            </a:r>
            <a:r>
              <a:rPr dirty="0" err="1"/>
              <a:t>прашалници</a:t>
            </a:r>
            <a:r>
              <a:rPr dirty="0"/>
              <a:t> (</a:t>
            </a:r>
            <a:r>
              <a:rPr dirty="0" err="1"/>
              <a:t>филтрирања</a:t>
            </a:r>
            <a:r>
              <a:rPr dirty="0"/>
              <a:t>):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Филмови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приход</a:t>
            </a:r>
            <a:r>
              <a:rPr dirty="0"/>
              <a:t> &gt; 1 </a:t>
            </a:r>
            <a:r>
              <a:rPr dirty="0" err="1"/>
              <a:t>милијарда</a:t>
            </a:r>
            <a:endParaRPr dirty="0"/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Пребарување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жанр</a:t>
            </a:r>
            <a:endParaRPr dirty="0"/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Пребарување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временски</a:t>
            </a:r>
            <a:r>
              <a:rPr dirty="0"/>
              <a:t> </a:t>
            </a:r>
            <a:r>
              <a:rPr dirty="0" err="1"/>
              <a:t>период</a:t>
            </a:r>
            <a:endParaRPr dirty="0"/>
          </a:p>
          <a:p>
            <a:r>
              <a:rPr dirty="0" err="1"/>
              <a:t>Сложени</a:t>
            </a:r>
            <a:r>
              <a:rPr dirty="0"/>
              <a:t> </a:t>
            </a:r>
            <a:r>
              <a:rPr dirty="0" err="1"/>
              <a:t>прашалници</a:t>
            </a:r>
            <a:r>
              <a:rPr dirty="0"/>
              <a:t>: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Топ</a:t>
            </a:r>
            <a:r>
              <a:rPr dirty="0"/>
              <a:t> </a:t>
            </a:r>
            <a:r>
              <a:rPr dirty="0" err="1"/>
              <a:t>филмови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приход</a:t>
            </a:r>
            <a:endParaRPr dirty="0"/>
          </a:p>
          <a:p>
            <a:pPr marL="457200" lvl="1" indent="0">
              <a:buNone/>
            </a:pPr>
            <a:r>
              <a:rPr dirty="0"/>
              <a:t>• JOIN </a:t>
            </a:r>
            <a:r>
              <a:rPr dirty="0" err="1"/>
              <a:t>операции</a:t>
            </a:r>
            <a:endParaRPr dirty="0"/>
          </a:p>
          <a:p>
            <a:r>
              <a:rPr dirty="0" err="1"/>
              <a:t>Многу</a:t>
            </a:r>
            <a:r>
              <a:rPr dirty="0"/>
              <a:t> </a:t>
            </a:r>
            <a:r>
              <a:rPr dirty="0" err="1"/>
              <a:t>сложени</a:t>
            </a:r>
            <a:r>
              <a:rPr dirty="0"/>
              <a:t> </a:t>
            </a:r>
            <a:r>
              <a:rPr dirty="0" err="1"/>
              <a:t>прашалници</a:t>
            </a:r>
            <a:r>
              <a:rPr dirty="0"/>
              <a:t>: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Агрегации</a:t>
            </a:r>
            <a:r>
              <a:rPr dirty="0"/>
              <a:t> (GROUP BY)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Комплексно</a:t>
            </a:r>
            <a:r>
              <a:rPr dirty="0"/>
              <a:t> </a:t>
            </a:r>
            <a:r>
              <a:rPr dirty="0" err="1"/>
              <a:t>филтрирање</a:t>
            </a:r>
            <a:endParaRPr dirty="0"/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Парсирање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Action филмови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4237452"/>
          </a:xfrm>
        </p:spPr>
        <p:txBody>
          <a:bodyPr>
            <a:normAutofit/>
          </a:bodyPr>
          <a:lstStyle/>
          <a:p>
            <a:r>
              <a:rPr dirty="0"/>
              <a:t>Cassandra CQL:</a:t>
            </a:r>
          </a:p>
          <a:p>
            <a:pPr lvl="1"/>
            <a:r>
              <a:rPr dirty="0"/>
              <a:t>SELECT title, </a:t>
            </a:r>
            <a:r>
              <a:rPr dirty="0" err="1"/>
              <a:t>release_date</a:t>
            </a:r>
            <a:r>
              <a:rPr dirty="0"/>
              <a:t>, revenue</a:t>
            </a:r>
          </a:p>
          <a:p>
            <a:pPr lvl="1"/>
            <a:r>
              <a:rPr dirty="0"/>
              <a:t>FROM </a:t>
            </a:r>
            <a:r>
              <a:rPr dirty="0" err="1"/>
              <a:t>movies_by_genre</a:t>
            </a:r>
            <a:endParaRPr dirty="0"/>
          </a:p>
          <a:p>
            <a:pPr lvl="1"/>
            <a:r>
              <a:rPr dirty="0"/>
              <a:t>WHERE genre = 'Action' LIMIT 50;</a:t>
            </a:r>
          </a:p>
          <a:p>
            <a:r>
              <a:rPr dirty="0"/>
              <a:t>Hadoop/Spark SQL:</a:t>
            </a:r>
          </a:p>
          <a:p>
            <a:pPr lvl="1"/>
            <a:r>
              <a:rPr dirty="0"/>
              <a:t>SELECT title, </a:t>
            </a:r>
            <a:r>
              <a:rPr dirty="0" err="1"/>
              <a:t>release_date</a:t>
            </a:r>
            <a:r>
              <a:rPr dirty="0"/>
              <a:t>, revenue</a:t>
            </a:r>
          </a:p>
          <a:p>
            <a:pPr lvl="1"/>
            <a:r>
              <a:rPr dirty="0"/>
              <a:t>FROM </a:t>
            </a:r>
            <a:r>
              <a:rPr dirty="0" err="1"/>
              <a:t>movies_hive</a:t>
            </a:r>
            <a:endParaRPr dirty="0"/>
          </a:p>
          <a:p>
            <a:pPr lvl="1"/>
            <a:r>
              <a:rPr dirty="0"/>
              <a:t>WHERE genres LIKE '%Action%' </a:t>
            </a:r>
            <a:endParaRPr lang="mk-MK" dirty="0"/>
          </a:p>
          <a:p>
            <a:pPr lvl="1"/>
            <a:r>
              <a:rPr dirty="0"/>
              <a:t>LIMIT 50;</a:t>
            </a:r>
            <a:endParaRPr lang="mk-MK" dirty="0"/>
          </a:p>
          <a:p>
            <a:pPr marL="324000" lvl="1" indent="0">
              <a:buNone/>
            </a:pPr>
            <a:endParaRPr dirty="0"/>
          </a:p>
          <a:p>
            <a:pPr>
              <a:defRPr b="1">
                <a:solidFill>
                  <a:srgbClr val="2E86AB"/>
                </a:solidFill>
              </a:defRPr>
            </a:pPr>
            <a:r>
              <a:rPr dirty="0" err="1"/>
              <a:t>Резултат</a:t>
            </a:r>
            <a:r>
              <a:rPr dirty="0"/>
              <a:t>: Cassandra: 0.0089s | Hadoop: 0.1234s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Пример: Просечен приход по жанр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4209742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Cassandra:</a:t>
            </a:r>
          </a:p>
          <a:p>
            <a:pPr marL="457200" lvl="1" indent="0">
              <a:buNone/>
            </a:pPr>
            <a:r>
              <a:rPr dirty="0"/>
              <a:t>SELECT genre, revenue 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FROM </a:t>
            </a:r>
            <a:r>
              <a:rPr lang="en-US" dirty="0" err="1"/>
              <a:t>movies_by_genre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dirty="0"/>
              <a:t>LIMIT 1000;</a:t>
            </a:r>
            <a:endParaRPr lang="ru-RU" dirty="0"/>
          </a:p>
          <a:p>
            <a:pPr marL="457200" lvl="1" indent="0">
              <a:buNone/>
            </a:pPr>
            <a:r>
              <a:rPr lang="ru-RU" dirty="0"/>
              <a:t>• Агрегацијата се прави во апликацискиот слој</a:t>
            </a:r>
          </a:p>
          <a:p>
            <a:r>
              <a:rPr dirty="0"/>
              <a:t>Hadoop/Spark:</a:t>
            </a:r>
          </a:p>
          <a:p>
            <a:pPr marL="457200" lvl="1" indent="0">
              <a:buNone/>
            </a:pPr>
            <a:r>
              <a:rPr dirty="0"/>
              <a:t>SELECT genre, AVG(revenue) </a:t>
            </a:r>
            <a:endParaRPr lang="en-US" dirty="0"/>
          </a:p>
          <a:p>
            <a:pPr marL="457200" lvl="1" indent="0">
              <a:buNone/>
            </a:pPr>
            <a:r>
              <a:rPr dirty="0"/>
              <a:t>FROM ... </a:t>
            </a:r>
            <a:endParaRPr lang="en-US" dirty="0"/>
          </a:p>
          <a:p>
            <a:pPr marL="457200" lvl="1" indent="0">
              <a:buNone/>
            </a:pPr>
            <a:r>
              <a:rPr dirty="0"/>
              <a:t>GROUP BY genre;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Вградена</a:t>
            </a:r>
            <a:r>
              <a:rPr dirty="0"/>
              <a:t> </a:t>
            </a:r>
            <a:r>
              <a:rPr dirty="0" err="1"/>
              <a:t>поддршка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агрегации</a:t>
            </a:r>
            <a:endParaRPr lang="mk-MK" dirty="0"/>
          </a:p>
          <a:p>
            <a:pPr marL="457200" lvl="1" indent="0">
              <a:buNone/>
            </a:pPr>
            <a:endParaRPr dirty="0"/>
          </a:p>
          <a:p>
            <a:pPr>
              <a:defRPr b="1">
                <a:solidFill>
                  <a:srgbClr val="A23B72"/>
                </a:solidFill>
              </a:defRPr>
            </a:pPr>
            <a:r>
              <a:rPr dirty="0" err="1"/>
              <a:t>Резултат</a:t>
            </a:r>
            <a:r>
              <a:rPr dirty="0"/>
              <a:t>: Cassandra: 0.2345s | Hadoop: 0.1234s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Клучни резултати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Cassandra е </a:t>
            </a:r>
            <a:r>
              <a:rPr dirty="0" err="1"/>
              <a:t>побрза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: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Едноставни</a:t>
            </a:r>
            <a:r>
              <a:rPr dirty="0"/>
              <a:t> </a:t>
            </a:r>
            <a:r>
              <a:rPr dirty="0" err="1"/>
              <a:t>прашалници</a:t>
            </a:r>
            <a:r>
              <a:rPr dirty="0"/>
              <a:t> (Q1-Q4): 0.0067-0.0234s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Оптимизирани</a:t>
            </a:r>
            <a:r>
              <a:rPr dirty="0"/>
              <a:t> </a:t>
            </a:r>
            <a:r>
              <a:rPr dirty="0" err="1"/>
              <a:t>прашалници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partition key</a:t>
            </a:r>
          </a:p>
          <a:p>
            <a:r>
              <a:rPr dirty="0"/>
              <a:t>Hadoop/Spark е </a:t>
            </a:r>
            <a:r>
              <a:rPr dirty="0" err="1"/>
              <a:t>побрз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:</a:t>
            </a:r>
          </a:p>
          <a:p>
            <a:pPr marL="457200" lvl="1" indent="0">
              <a:buNone/>
            </a:pPr>
            <a:r>
              <a:rPr dirty="0"/>
              <a:t>• </a:t>
            </a:r>
            <a:r>
              <a:rPr dirty="0" err="1"/>
              <a:t>Сложени</a:t>
            </a:r>
            <a:r>
              <a:rPr dirty="0"/>
              <a:t> </a:t>
            </a:r>
            <a:r>
              <a:rPr dirty="0" err="1"/>
              <a:t>агрегации</a:t>
            </a:r>
            <a:r>
              <a:rPr dirty="0"/>
              <a:t> (Q6-Q8): 0.0890-0.1234s</a:t>
            </a:r>
          </a:p>
          <a:p>
            <a:pPr marL="457200" lvl="1" indent="0">
              <a:buNone/>
            </a:pPr>
            <a:r>
              <a:rPr dirty="0"/>
              <a:t>• JOIN </a:t>
            </a:r>
            <a:r>
              <a:rPr dirty="0" err="1"/>
              <a:t>операции</a:t>
            </a:r>
            <a:r>
              <a:rPr dirty="0"/>
              <a:t> и GROUP BY</a:t>
            </a:r>
          </a:p>
          <a:p>
            <a:pPr marL="457200" lvl="1" indent="0">
              <a:buNone/>
            </a:pPr>
            <a:r>
              <a:rPr dirty="0"/>
              <a:t>• Ad-hoc </a:t>
            </a:r>
            <a:r>
              <a:rPr dirty="0" err="1"/>
              <a:t>прашалници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денормализација</a:t>
            </a:r>
            <a:endParaRPr dirty="0"/>
          </a:p>
          <a:p>
            <a:r>
              <a:rPr dirty="0"/>
              <a:t>Ограничувања:</a:t>
            </a:r>
          </a:p>
          <a:p>
            <a:pPr marL="457200" lvl="1" indent="0">
              <a:buNone/>
            </a:pPr>
            <a:r>
              <a:rPr dirty="0"/>
              <a:t>• Cassandra: </a:t>
            </a:r>
            <a:r>
              <a:rPr dirty="0" err="1"/>
              <a:t>Некои</a:t>
            </a:r>
            <a:r>
              <a:rPr dirty="0"/>
              <a:t> </a:t>
            </a:r>
            <a:r>
              <a:rPr dirty="0" err="1"/>
              <a:t>прашалници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се</a:t>
            </a:r>
            <a:r>
              <a:rPr dirty="0"/>
              <a:t> </a:t>
            </a:r>
            <a:r>
              <a:rPr dirty="0" err="1"/>
              <a:t>применливи</a:t>
            </a:r>
            <a:r>
              <a:rPr dirty="0"/>
              <a:t> (Q9-Q10)</a:t>
            </a:r>
          </a:p>
          <a:p>
            <a:pPr marL="457200" lvl="1" indent="0">
              <a:buNone/>
            </a:pPr>
            <a:r>
              <a:rPr dirty="0"/>
              <a:t>• Hadoop: </a:t>
            </a:r>
            <a:r>
              <a:rPr dirty="0" err="1"/>
              <a:t>Поголем</a:t>
            </a:r>
            <a:r>
              <a:rPr lang="mk-MK" dirty="0"/>
              <a:t>о</a:t>
            </a:r>
            <a:r>
              <a:rPr dirty="0"/>
              <a:t> </a:t>
            </a:r>
            <a:r>
              <a:rPr lang="mk-MK" dirty="0"/>
              <a:t>доцнење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едноставни</a:t>
            </a:r>
            <a:r>
              <a:rPr dirty="0"/>
              <a:t> </a:t>
            </a:r>
            <a:r>
              <a:rPr dirty="0" err="1"/>
              <a:t>прашалници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C530-F0CD-B23D-DC3B-DA132788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499720"/>
            <a:ext cx="6213454" cy="1190535"/>
          </a:xfrm>
        </p:spPr>
        <p:txBody>
          <a:bodyPr>
            <a:normAutofit/>
          </a:bodyPr>
          <a:lstStyle/>
          <a:p>
            <a:pPr algn="ctr"/>
            <a:r>
              <a:rPr lang="mk-MK" dirty="0"/>
              <a:t>Споредба на перформансите на прашалниците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15DF7-448A-3B9A-5019-1711645A8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46" y="2216214"/>
            <a:ext cx="8649907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90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Споредба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перформансите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Едноставни</a:t>
            </a:r>
            <a:r>
              <a:rPr dirty="0"/>
              <a:t> </a:t>
            </a:r>
            <a:r>
              <a:rPr dirty="0" err="1"/>
              <a:t>прашалници</a:t>
            </a:r>
            <a:r>
              <a:rPr dirty="0"/>
              <a:t>:</a:t>
            </a:r>
          </a:p>
          <a:p>
            <a:pPr lvl="1"/>
            <a:r>
              <a:rPr dirty="0"/>
              <a:t>  Q1: Cassandra 0.0234s vs Hadoop 0.1456s</a:t>
            </a:r>
          </a:p>
          <a:p>
            <a:pPr lvl="1"/>
            <a:r>
              <a:rPr dirty="0"/>
              <a:t>  Q2: Cassandra 0.0089s vs Hadoop 0.1234s</a:t>
            </a:r>
          </a:p>
          <a:p>
            <a:pPr lvl="1"/>
            <a:r>
              <a:rPr dirty="0"/>
              <a:t>  Q4: Cassandra 0.0067s vs Hadoop 0.1345s</a:t>
            </a:r>
          </a:p>
          <a:p>
            <a:r>
              <a:rPr dirty="0" err="1"/>
              <a:t>Сложени</a:t>
            </a:r>
            <a:r>
              <a:rPr dirty="0"/>
              <a:t> </a:t>
            </a:r>
            <a:r>
              <a:rPr dirty="0" err="1"/>
              <a:t>прашалници</a:t>
            </a:r>
            <a:r>
              <a:rPr dirty="0"/>
              <a:t>:</a:t>
            </a:r>
          </a:p>
          <a:p>
            <a:pPr lvl="1"/>
            <a:r>
              <a:rPr dirty="0"/>
              <a:t>  Q6: Cassandra 0.2345s vs Hadoop 0.1234s</a:t>
            </a:r>
          </a:p>
          <a:p>
            <a:pPr lvl="1"/>
            <a:r>
              <a:rPr dirty="0"/>
              <a:t>  Q7: Cassandra 0.1567s vs Hadoop 0.0890s</a:t>
            </a:r>
          </a:p>
          <a:p>
            <a:pPr lvl="1"/>
            <a:r>
              <a:rPr dirty="0"/>
              <a:t>  Q8: Cassandra 0.1789s vs Hadoop 0.1123s</a:t>
            </a:r>
          </a:p>
        </p:txBody>
      </p:sp>
      <p:pic>
        <p:nvPicPr>
          <p:cNvPr id="5" name="Picture 4" descr="graph_b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90" y="2008052"/>
            <a:ext cx="8708620" cy="43543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Кога да се користи Cassandra?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Прашалниците</a:t>
            </a:r>
            <a:r>
              <a:rPr dirty="0"/>
              <a:t> </a:t>
            </a:r>
            <a:r>
              <a:rPr dirty="0" err="1"/>
              <a:t>се</a:t>
            </a:r>
            <a:r>
              <a:rPr dirty="0"/>
              <a:t> </a:t>
            </a:r>
            <a:r>
              <a:rPr dirty="0" err="1"/>
              <a:t>предвидливи</a:t>
            </a:r>
            <a:r>
              <a:rPr dirty="0"/>
              <a:t> и </a:t>
            </a:r>
            <a:r>
              <a:rPr dirty="0" err="1"/>
              <a:t>може</a:t>
            </a:r>
            <a:r>
              <a:rPr dirty="0"/>
              <a:t> </a:t>
            </a:r>
            <a:r>
              <a:rPr dirty="0" err="1"/>
              <a:t>да</a:t>
            </a:r>
            <a:r>
              <a:rPr dirty="0"/>
              <a:t> </a:t>
            </a:r>
            <a:r>
              <a:rPr dirty="0" err="1"/>
              <a:t>се</a:t>
            </a:r>
            <a:r>
              <a:rPr dirty="0"/>
              <a:t> </a:t>
            </a:r>
            <a:r>
              <a:rPr dirty="0" err="1"/>
              <a:t>оптимизираат</a:t>
            </a:r>
            <a:endParaRPr dirty="0"/>
          </a:p>
          <a:p>
            <a:r>
              <a:rPr dirty="0" err="1"/>
              <a:t>Потребн</a:t>
            </a:r>
            <a:r>
              <a:rPr lang="mk-MK" dirty="0"/>
              <a:t>о</a:t>
            </a:r>
            <a:r>
              <a:rPr dirty="0"/>
              <a:t> е </a:t>
            </a:r>
            <a:r>
              <a:rPr lang="mk-MK" dirty="0"/>
              <a:t>мало доцнење</a:t>
            </a:r>
            <a:r>
              <a:rPr dirty="0"/>
              <a:t>(&lt; 0.01s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едноставни</a:t>
            </a:r>
            <a:r>
              <a:rPr dirty="0"/>
              <a:t> </a:t>
            </a:r>
            <a:r>
              <a:rPr dirty="0" err="1"/>
              <a:t>прашалници</a:t>
            </a:r>
            <a:r>
              <a:rPr dirty="0"/>
              <a:t>)</a:t>
            </a:r>
          </a:p>
          <a:p>
            <a:r>
              <a:rPr dirty="0" err="1"/>
              <a:t>Податоците</a:t>
            </a:r>
            <a:r>
              <a:rPr dirty="0"/>
              <a:t> </a:t>
            </a:r>
            <a:r>
              <a:rPr dirty="0" err="1"/>
              <a:t>се</a:t>
            </a:r>
            <a:r>
              <a:rPr dirty="0"/>
              <a:t> </a:t>
            </a:r>
            <a:r>
              <a:rPr dirty="0" err="1"/>
              <a:t>структурирани</a:t>
            </a:r>
            <a:r>
              <a:rPr dirty="0"/>
              <a:t> </a:t>
            </a:r>
            <a:r>
              <a:rPr dirty="0" err="1"/>
              <a:t>како</a:t>
            </a:r>
            <a:r>
              <a:rPr dirty="0"/>
              <a:t> key-value </a:t>
            </a:r>
            <a:r>
              <a:rPr dirty="0" err="1"/>
              <a:t>парови</a:t>
            </a:r>
            <a:endParaRPr dirty="0"/>
          </a:p>
          <a:p>
            <a:r>
              <a:rPr dirty="0" err="1"/>
              <a:t>Потребно</a:t>
            </a:r>
            <a:r>
              <a:rPr dirty="0"/>
              <a:t> е </a:t>
            </a:r>
            <a:r>
              <a:rPr dirty="0" err="1"/>
              <a:t>хоризонтално</a:t>
            </a:r>
            <a:r>
              <a:rPr dirty="0"/>
              <a:t> </a:t>
            </a:r>
            <a:r>
              <a:rPr dirty="0" err="1"/>
              <a:t>скалирање</a:t>
            </a:r>
            <a:endParaRPr dirty="0"/>
          </a:p>
          <a:p>
            <a:r>
              <a:rPr dirty="0"/>
              <a:t>Write-heavy </a:t>
            </a:r>
            <a:r>
              <a:rPr dirty="0" err="1"/>
              <a:t>работи</a:t>
            </a:r>
            <a:endParaRPr dirty="0"/>
          </a:p>
          <a:p>
            <a:r>
              <a:rPr dirty="0" err="1"/>
              <a:t>Реално</a:t>
            </a:r>
            <a:r>
              <a:rPr dirty="0"/>
              <a:t> </a:t>
            </a:r>
            <a:r>
              <a:rPr dirty="0" err="1"/>
              <a:t>време</a:t>
            </a:r>
            <a:r>
              <a:rPr dirty="0"/>
              <a:t> </a:t>
            </a:r>
            <a:r>
              <a:rPr dirty="0" err="1"/>
              <a:t>апликации</a:t>
            </a:r>
            <a:endParaRPr dirty="0"/>
          </a:p>
          <a:p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Онлајн</a:t>
            </a:r>
            <a:r>
              <a:rPr dirty="0"/>
              <a:t> </a:t>
            </a:r>
            <a:r>
              <a:rPr dirty="0" err="1"/>
              <a:t>платформи</a:t>
            </a:r>
            <a:r>
              <a:rPr dirty="0"/>
              <a:t>, IoT </a:t>
            </a:r>
            <a:r>
              <a:rPr dirty="0" err="1"/>
              <a:t>сензори</a:t>
            </a:r>
            <a:r>
              <a:rPr dirty="0"/>
              <a:t>, </a:t>
            </a:r>
            <a:r>
              <a:rPr dirty="0" err="1"/>
              <a:t>логови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Кога</a:t>
            </a:r>
            <a:r>
              <a:rPr dirty="0"/>
              <a:t> </a:t>
            </a:r>
            <a:r>
              <a:rPr dirty="0" err="1"/>
              <a:t>да</a:t>
            </a:r>
            <a:r>
              <a:rPr dirty="0"/>
              <a:t> </a:t>
            </a:r>
            <a:r>
              <a:rPr dirty="0" err="1"/>
              <a:t>се</a:t>
            </a:r>
            <a:r>
              <a:rPr dirty="0"/>
              <a:t> </a:t>
            </a:r>
            <a:r>
              <a:rPr dirty="0" err="1"/>
              <a:t>користи</a:t>
            </a:r>
            <a:r>
              <a:rPr dirty="0"/>
              <a:t> Hadoop/Spark?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Потребни</a:t>
            </a:r>
            <a:r>
              <a:rPr dirty="0"/>
              <a:t> </a:t>
            </a:r>
            <a:r>
              <a:rPr dirty="0" err="1"/>
              <a:t>се</a:t>
            </a:r>
            <a:r>
              <a:rPr dirty="0"/>
              <a:t> </a:t>
            </a:r>
            <a:r>
              <a:rPr dirty="0" err="1"/>
              <a:t>флексибилни</a:t>
            </a:r>
            <a:r>
              <a:rPr dirty="0"/>
              <a:t>, ad-hoc </a:t>
            </a:r>
            <a:r>
              <a:rPr dirty="0" err="1"/>
              <a:t>прашалници</a:t>
            </a:r>
            <a:endParaRPr dirty="0"/>
          </a:p>
          <a:p>
            <a:r>
              <a:rPr dirty="0" err="1"/>
              <a:t>Сложени</a:t>
            </a:r>
            <a:r>
              <a:rPr dirty="0"/>
              <a:t> </a:t>
            </a:r>
            <a:r>
              <a:rPr dirty="0" err="1"/>
              <a:t>аналитички</a:t>
            </a:r>
            <a:r>
              <a:rPr dirty="0"/>
              <a:t> </a:t>
            </a:r>
            <a:r>
              <a:rPr dirty="0" err="1"/>
              <a:t>работи</a:t>
            </a:r>
            <a:r>
              <a:rPr dirty="0"/>
              <a:t> и </a:t>
            </a:r>
            <a:r>
              <a:rPr dirty="0" err="1"/>
              <a:t>агрегации</a:t>
            </a:r>
            <a:endParaRPr dirty="0"/>
          </a:p>
          <a:p>
            <a:r>
              <a:rPr dirty="0"/>
              <a:t>Batch </a:t>
            </a: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големи</a:t>
            </a:r>
            <a:r>
              <a:rPr dirty="0"/>
              <a:t> </a:t>
            </a:r>
            <a:r>
              <a:rPr dirty="0" err="1"/>
              <a:t>количини</a:t>
            </a:r>
            <a:r>
              <a:rPr dirty="0"/>
              <a:t> </a:t>
            </a:r>
            <a:r>
              <a:rPr dirty="0" err="1"/>
              <a:t>податоци</a:t>
            </a:r>
            <a:endParaRPr dirty="0"/>
          </a:p>
          <a:p>
            <a:r>
              <a:rPr dirty="0" err="1"/>
              <a:t>Сложени</a:t>
            </a:r>
            <a:r>
              <a:rPr dirty="0"/>
              <a:t> JOIN </a:t>
            </a:r>
            <a:r>
              <a:rPr dirty="0" err="1"/>
              <a:t>операции</a:t>
            </a:r>
            <a:r>
              <a:rPr dirty="0"/>
              <a:t> и GROUP BY</a:t>
            </a:r>
          </a:p>
          <a:p>
            <a:r>
              <a:rPr dirty="0" err="1"/>
              <a:t>Парсирање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JSON и </a:t>
            </a:r>
            <a:r>
              <a:rPr dirty="0" err="1"/>
              <a:t>неструктурирани</a:t>
            </a:r>
            <a:r>
              <a:rPr dirty="0"/>
              <a:t> </a:t>
            </a:r>
            <a:r>
              <a:rPr dirty="0" err="1"/>
              <a:t>податоци</a:t>
            </a:r>
            <a:endParaRPr dirty="0"/>
          </a:p>
          <a:p>
            <a:r>
              <a:rPr dirty="0" err="1"/>
              <a:t>Може</a:t>
            </a:r>
            <a:r>
              <a:rPr dirty="0"/>
              <a:t> </a:t>
            </a:r>
            <a:r>
              <a:rPr dirty="0" err="1"/>
              <a:t>да</a:t>
            </a:r>
            <a:r>
              <a:rPr dirty="0"/>
              <a:t> </a:t>
            </a:r>
            <a:r>
              <a:rPr dirty="0" err="1"/>
              <a:t>се</a:t>
            </a:r>
            <a:r>
              <a:rPr dirty="0"/>
              <a:t> </a:t>
            </a:r>
            <a:r>
              <a:rPr dirty="0" err="1"/>
              <a:t>користи</a:t>
            </a:r>
            <a:r>
              <a:rPr dirty="0"/>
              <a:t> </a:t>
            </a:r>
            <a:r>
              <a:rPr dirty="0" err="1"/>
              <a:t>повеќе</a:t>
            </a:r>
            <a:r>
              <a:rPr dirty="0"/>
              <a:t> </a:t>
            </a:r>
            <a:r>
              <a:rPr dirty="0" err="1"/>
              <a:t>процесори</a:t>
            </a:r>
            <a:r>
              <a:rPr dirty="0"/>
              <a:t> (30-60% </a:t>
            </a:r>
            <a:r>
              <a:rPr dirty="0" err="1"/>
              <a:t>подобрување</a:t>
            </a:r>
            <a:r>
              <a:rPr dirty="0"/>
              <a:t>)</a:t>
            </a:r>
          </a:p>
          <a:p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Аналитички</a:t>
            </a:r>
            <a:r>
              <a:rPr dirty="0"/>
              <a:t> </a:t>
            </a:r>
            <a:r>
              <a:rPr dirty="0" err="1"/>
              <a:t>извештаи</a:t>
            </a:r>
            <a:r>
              <a:rPr dirty="0"/>
              <a:t>, data mining, ETL </a:t>
            </a:r>
            <a:r>
              <a:rPr dirty="0" err="1"/>
              <a:t>процеси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Ограничувања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Cassandra:</a:t>
            </a:r>
          </a:p>
          <a:p>
            <a:pPr lvl="1"/>
            <a:r>
              <a:rPr dirty="0"/>
              <a:t> 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поддржува</a:t>
            </a:r>
            <a:r>
              <a:rPr dirty="0"/>
              <a:t> </a:t>
            </a:r>
            <a:r>
              <a:rPr dirty="0" err="1"/>
              <a:t>ефикасно</a:t>
            </a:r>
            <a:r>
              <a:rPr dirty="0"/>
              <a:t> ad-hoc </a:t>
            </a:r>
            <a:r>
              <a:rPr dirty="0" err="1"/>
              <a:t>прашалници</a:t>
            </a:r>
            <a:endParaRPr dirty="0"/>
          </a:p>
          <a:p>
            <a:pPr lvl="1"/>
            <a:r>
              <a:rPr dirty="0"/>
              <a:t>  </a:t>
            </a:r>
            <a:r>
              <a:rPr dirty="0" err="1"/>
              <a:t>Агрегациите</a:t>
            </a:r>
            <a:r>
              <a:rPr dirty="0"/>
              <a:t> </a:t>
            </a:r>
            <a:r>
              <a:rPr dirty="0" err="1"/>
              <a:t>треба</a:t>
            </a:r>
            <a:r>
              <a:rPr dirty="0"/>
              <a:t> </a:t>
            </a:r>
            <a:r>
              <a:rPr dirty="0" err="1"/>
              <a:t>да</a:t>
            </a:r>
            <a:r>
              <a:rPr dirty="0"/>
              <a:t> </a:t>
            </a:r>
            <a:r>
              <a:rPr dirty="0" err="1"/>
              <a:t>се</a:t>
            </a:r>
            <a:r>
              <a:rPr dirty="0"/>
              <a:t> </a:t>
            </a:r>
            <a:r>
              <a:rPr dirty="0" err="1"/>
              <a:t>прават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апликацијата</a:t>
            </a:r>
            <a:endParaRPr dirty="0"/>
          </a:p>
          <a:p>
            <a:pPr lvl="1"/>
            <a:r>
              <a:rPr dirty="0"/>
              <a:t>  </a:t>
            </a:r>
            <a:r>
              <a:rPr dirty="0" err="1"/>
              <a:t>Ограничени</a:t>
            </a:r>
            <a:r>
              <a:rPr dirty="0"/>
              <a:t> JOIN </a:t>
            </a:r>
            <a:r>
              <a:rPr dirty="0" err="1"/>
              <a:t>операции</a:t>
            </a:r>
            <a:endParaRPr dirty="0"/>
          </a:p>
          <a:p>
            <a:r>
              <a:rPr dirty="0"/>
              <a:t>Hadoop/Spark:</a:t>
            </a:r>
          </a:p>
          <a:p>
            <a:pPr lvl="1"/>
            <a:r>
              <a:rPr dirty="0"/>
              <a:t>  </a:t>
            </a:r>
            <a:r>
              <a:rPr dirty="0" err="1"/>
              <a:t>Поголем</a:t>
            </a:r>
            <a:r>
              <a:rPr lang="mk-MK" dirty="0"/>
              <a:t>о</a:t>
            </a:r>
            <a:r>
              <a:rPr dirty="0"/>
              <a:t> </a:t>
            </a:r>
            <a:r>
              <a:rPr lang="mk-MK" dirty="0"/>
              <a:t>доцнење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едноставни</a:t>
            </a:r>
            <a:r>
              <a:rPr dirty="0"/>
              <a:t> </a:t>
            </a:r>
            <a:r>
              <a:rPr dirty="0" err="1"/>
              <a:t>прашалници</a:t>
            </a:r>
            <a:endParaRPr dirty="0"/>
          </a:p>
          <a:p>
            <a:pPr lvl="1"/>
            <a:r>
              <a:rPr dirty="0"/>
              <a:t>  </a:t>
            </a:r>
            <a:r>
              <a:rPr dirty="0" err="1"/>
              <a:t>Потребна</a:t>
            </a:r>
            <a:r>
              <a:rPr dirty="0"/>
              <a:t> е </a:t>
            </a:r>
            <a:r>
              <a:rPr dirty="0" err="1"/>
              <a:t>поголема</a:t>
            </a:r>
            <a:r>
              <a:rPr dirty="0"/>
              <a:t> </a:t>
            </a:r>
            <a:r>
              <a:rPr dirty="0" err="1"/>
              <a:t>меморија</a:t>
            </a:r>
            <a:r>
              <a:rPr dirty="0"/>
              <a:t> и </a:t>
            </a:r>
            <a:r>
              <a:rPr dirty="0" err="1"/>
              <a:t>обработувачка</a:t>
            </a:r>
            <a:r>
              <a:rPr dirty="0"/>
              <a:t> </a:t>
            </a:r>
            <a:r>
              <a:rPr dirty="0" err="1"/>
              <a:t>моќ</a:t>
            </a:r>
            <a:endParaRPr dirty="0"/>
          </a:p>
          <a:p>
            <a:pPr lvl="1"/>
            <a:r>
              <a:rPr dirty="0"/>
              <a:t>  </a:t>
            </a:r>
            <a:r>
              <a:rPr dirty="0" err="1"/>
              <a:t>Не</a:t>
            </a:r>
            <a:r>
              <a:rPr dirty="0"/>
              <a:t> е </a:t>
            </a:r>
            <a:r>
              <a:rPr dirty="0" err="1"/>
              <a:t>оптимизиран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real-time </a:t>
            </a:r>
            <a:r>
              <a:rPr dirty="0" err="1"/>
              <a:t>апликации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Графички</a:t>
            </a:r>
            <a:r>
              <a:rPr dirty="0"/>
              <a:t> </a:t>
            </a:r>
            <a:r>
              <a:rPr dirty="0" err="1"/>
              <a:t>приказ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перформансите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graph_line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7634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Споредба по тип на прашалници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graph_query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8073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Заклучок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Двете</a:t>
            </a:r>
            <a:r>
              <a:rPr dirty="0"/>
              <a:t> </a:t>
            </a:r>
            <a:r>
              <a:rPr dirty="0" err="1"/>
              <a:t>бази</a:t>
            </a:r>
            <a:r>
              <a:rPr dirty="0"/>
              <a:t> </a:t>
            </a:r>
            <a:r>
              <a:rPr dirty="0" err="1"/>
              <a:t>имаат</a:t>
            </a:r>
            <a:r>
              <a:rPr dirty="0"/>
              <a:t> </a:t>
            </a:r>
            <a:r>
              <a:rPr dirty="0" err="1"/>
              <a:t>различни</a:t>
            </a:r>
            <a:r>
              <a:rPr dirty="0"/>
              <a:t> </a:t>
            </a:r>
            <a:r>
              <a:rPr dirty="0" err="1"/>
              <a:t>предности</a:t>
            </a:r>
            <a:r>
              <a:rPr dirty="0"/>
              <a:t> и </a:t>
            </a:r>
            <a:r>
              <a:rPr dirty="0" err="1"/>
              <a:t>ограничувања</a:t>
            </a:r>
            <a:endParaRPr dirty="0"/>
          </a:p>
          <a:p>
            <a:pPr marL="0" indent="0">
              <a:buNone/>
            </a:pPr>
            <a:r>
              <a:rPr dirty="0"/>
              <a:t>• Cassandra е </a:t>
            </a:r>
            <a:r>
              <a:rPr dirty="0" err="1"/>
              <a:t>идеална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оптимизирани</a:t>
            </a:r>
            <a:r>
              <a:rPr dirty="0"/>
              <a:t>, </a:t>
            </a:r>
            <a:r>
              <a:rPr dirty="0" err="1"/>
              <a:t>предвидливи</a:t>
            </a:r>
            <a:r>
              <a:rPr dirty="0"/>
              <a:t> </a:t>
            </a:r>
            <a:r>
              <a:rPr dirty="0" err="1"/>
              <a:t>прашалници</a:t>
            </a:r>
            <a:r>
              <a:rPr dirty="0"/>
              <a:t> </a:t>
            </a:r>
            <a:r>
              <a:rPr dirty="0" err="1"/>
              <a:t>со</a:t>
            </a:r>
            <a:r>
              <a:rPr lang="mk-MK" dirty="0"/>
              <a:t> низок степен на доцнење</a:t>
            </a:r>
            <a:endParaRPr dirty="0"/>
          </a:p>
          <a:p>
            <a:pPr marL="0" indent="0">
              <a:buNone/>
            </a:pPr>
            <a:r>
              <a:rPr dirty="0"/>
              <a:t>• Hadoop/Spark е </a:t>
            </a:r>
            <a:r>
              <a:rPr dirty="0" err="1"/>
              <a:t>идеален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флексибилни</a:t>
            </a:r>
            <a:r>
              <a:rPr dirty="0"/>
              <a:t> </a:t>
            </a:r>
            <a:r>
              <a:rPr dirty="0" err="1"/>
              <a:t>аналитички</a:t>
            </a:r>
            <a:r>
              <a:rPr dirty="0"/>
              <a:t> </a:t>
            </a:r>
            <a:r>
              <a:rPr dirty="0" err="1"/>
              <a:t>работи</a:t>
            </a:r>
            <a:r>
              <a:rPr dirty="0"/>
              <a:t> и </a:t>
            </a:r>
            <a:r>
              <a:rPr dirty="0" err="1"/>
              <a:t>агрегации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Изборот</a:t>
            </a:r>
            <a:r>
              <a:rPr dirty="0"/>
              <a:t> </a:t>
            </a:r>
            <a:r>
              <a:rPr dirty="0" err="1"/>
              <a:t>зависи</a:t>
            </a:r>
            <a:r>
              <a:rPr dirty="0"/>
              <a:t> </a:t>
            </a:r>
            <a:r>
              <a:rPr dirty="0" err="1"/>
              <a:t>од</a:t>
            </a:r>
            <a:r>
              <a:rPr dirty="0"/>
              <a:t>:</a:t>
            </a:r>
          </a:p>
          <a:p>
            <a:pPr marL="457200" lvl="1" indent="0">
              <a:buNone/>
            </a:pPr>
            <a:r>
              <a:rPr dirty="0"/>
              <a:t>- </a:t>
            </a:r>
            <a:r>
              <a:rPr dirty="0" err="1"/>
              <a:t>Типот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прашалниците</a:t>
            </a:r>
            <a:endParaRPr lang="mk-MK" dirty="0"/>
          </a:p>
          <a:p>
            <a:pPr marL="457200" lvl="1" indent="0">
              <a:buNone/>
            </a:pPr>
            <a:r>
              <a:rPr lang="mk-MK" dirty="0"/>
              <a:t>- Потребната латенција</a:t>
            </a:r>
          </a:p>
          <a:p>
            <a:pPr marL="457200" lvl="1" indent="0">
              <a:buNone/>
            </a:pPr>
            <a:r>
              <a:rPr dirty="0"/>
              <a:t>- </a:t>
            </a:r>
            <a:r>
              <a:rPr dirty="0" err="1"/>
              <a:t>Обемот</a:t>
            </a:r>
            <a:r>
              <a:rPr dirty="0"/>
              <a:t> и </a:t>
            </a:r>
            <a:r>
              <a:rPr dirty="0" err="1"/>
              <a:t>природата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податоците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Комбинирана</a:t>
            </a:r>
            <a:r>
              <a:rPr dirty="0"/>
              <a:t> </a:t>
            </a:r>
            <a:r>
              <a:rPr dirty="0" err="1"/>
              <a:t>архитектура</a:t>
            </a:r>
            <a:r>
              <a:rPr dirty="0"/>
              <a:t> </a:t>
            </a:r>
            <a:r>
              <a:rPr dirty="0" err="1"/>
              <a:t>може</a:t>
            </a:r>
            <a:r>
              <a:rPr dirty="0"/>
              <a:t> </a:t>
            </a:r>
            <a:r>
              <a:rPr dirty="0" err="1"/>
              <a:t>да</a:t>
            </a:r>
            <a:r>
              <a:rPr dirty="0"/>
              <a:t> </a:t>
            </a:r>
            <a:r>
              <a:rPr dirty="0" err="1"/>
              <a:t>биде</a:t>
            </a:r>
            <a:r>
              <a:rPr dirty="0"/>
              <a:t> </a:t>
            </a:r>
            <a:r>
              <a:rPr dirty="0" err="1"/>
              <a:t>оптимално</a:t>
            </a:r>
            <a:r>
              <a:rPr dirty="0"/>
              <a:t> </a:t>
            </a:r>
            <a:r>
              <a:rPr dirty="0" err="1"/>
              <a:t>решение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86AB"/>
                </a:solidFill>
              </a:defRPr>
            </a:pPr>
            <a:r>
              <a:rPr dirty="0" err="1"/>
              <a:t>Ви</a:t>
            </a:r>
            <a:r>
              <a:rPr dirty="0"/>
              <a:t> </a:t>
            </a:r>
            <a:r>
              <a:rPr dirty="0" err="1"/>
              <a:t>благодариме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вниманието</a:t>
            </a:r>
            <a:r>
              <a:rPr dirty="0"/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6951A-CDB3-F6FA-7D20-2FCC2ECD31A8}"/>
              </a:ext>
            </a:extLst>
          </p:cNvPr>
          <p:cNvSpPr txBox="1"/>
          <p:nvPr/>
        </p:nvSpPr>
        <p:spPr>
          <a:xfrm>
            <a:off x="263236" y="4947219"/>
            <a:ext cx="4572000" cy="1427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mk-MK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Изработиле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					                              </a:t>
            </a:r>
            <a:r>
              <a:rPr lang="mk-MK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Миодраг Ќука, 233297 		                            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</a:t>
            </a:r>
            <a:r>
              <a:rPr lang="mk-MK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Симон Илиќ,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211268</a:t>
            </a:r>
            <a:endParaRPr lang="en-US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mk-MK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Катерина Богојоска, 211140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65</TotalTime>
  <Words>875</Words>
  <Application>Microsoft Office PowerPoint</Application>
  <PresentationFormat>On-screen Show (4:3)</PresentationFormat>
  <Paragraphs>143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Gill Sans MT</vt:lpstr>
      <vt:lpstr>Wingdings 2</vt:lpstr>
      <vt:lpstr>Dividend</vt:lpstr>
      <vt:lpstr>PowerPoint Presentation</vt:lpstr>
      <vt:lpstr>Вовед</vt:lpstr>
      <vt:lpstr>Цели на проектот</vt:lpstr>
      <vt:lpstr>Податочно множество - TMDB</vt:lpstr>
      <vt:lpstr>Cassandra - Модел на податоци</vt:lpstr>
      <vt:lpstr>Hadoop/Spark - Модел на податоци</vt:lpstr>
      <vt:lpstr>Типови на прашалници</vt:lpstr>
      <vt:lpstr>Пример: Action филмови</vt:lpstr>
      <vt:lpstr>Пример: Просечен приход по жанр</vt:lpstr>
      <vt:lpstr>Клучни резултати</vt:lpstr>
      <vt:lpstr>Споредба на перформансите на прашалниците</vt:lpstr>
      <vt:lpstr>Споредба на перформансите</vt:lpstr>
      <vt:lpstr>Кога да се користи Cassandra?</vt:lpstr>
      <vt:lpstr>Кога да се користи Hadoop/Spark?</vt:lpstr>
      <vt:lpstr>Ограничувања</vt:lpstr>
      <vt:lpstr>Графички приказ на перформансите</vt:lpstr>
      <vt:lpstr>Споредба по тип на прашалници</vt:lpstr>
      <vt:lpstr>Заклучок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Miodrag Kjuka</cp:lastModifiedBy>
  <cp:revision>4</cp:revision>
  <dcterms:created xsi:type="dcterms:W3CDTF">2013-01-27T09:14:16Z</dcterms:created>
  <dcterms:modified xsi:type="dcterms:W3CDTF">2026-02-08T17:51:36Z</dcterms:modified>
  <cp:category/>
</cp:coreProperties>
</file>